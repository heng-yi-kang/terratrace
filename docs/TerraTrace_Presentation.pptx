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2239566-20FA-429A-84F9-C3830F68178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D96EDA-17EF-42A7-ADB0-BB33E545A3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9526B49-7C1D-4300-A9F8-5FE071BF03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AE8910-FDD4-4D66-8405-C575371862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5B792A-140D-4EB6-B703-96FF65E96E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6E31ED-98F2-4729-A32A-8687279D80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57149A-4EEE-4B0C-923F-B4E772912A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1769B39-1D93-48C8-A7CE-A3833588B1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2A2536-8E8E-4443-A707-734D6F4D2D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BA553C5-E7C8-4C5D-BB08-FA18087D3A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89DE5B-2C59-4F91-A295-1B7864F6AB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380880" y="143784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380880" y="380880"/>
            <a:ext cx="854892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TerraTrace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380880" y="898560"/>
            <a:ext cx="8548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636E72"/>
                </a:solidFill>
                <a:effectLst/>
                <a:uFillTx/>
                <a:latin typeface="Arial"/>
                <a:ea typeface="Arial"/>
              </a:rPr>
              <a:t>Eco-Friendly Travel Planner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380880" y="1158840"/>
            <a:ext cx="854892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636E72"/>
                </a:solidFill>
                <a:effectLst/>
                <a:uFillTx/>
                <a:latin typeface="Arial"/>
                <a:ea typeface="Arial"/>
              </a:rPr>
              <a:t>WIF2003 Web Programming | Semester 2 2025/2026 | OCC3 G4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380880" y="1638000"/>
            <a:ext cx="27198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MAIN IDEA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380880" y="1866600"/>
            <a:ext cx="2666160" cy="8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Plan trips with lower environmental impact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Discover eco-friendly destinations and activities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Estimate and track travel carbon emissions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Encourage greener choices through reviews and challenges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Show personal sustainability progress over time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3238560" y="1638000"/>
            <a:ext cx="27198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OBJECTIVES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3238560" y="1866600"/>
            <a:ext cx="2666160" cy="8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Help users find sustainable places quickly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Support greener itineraries with useful context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Let users monitor emissions from each journey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Promote repeat eco-friendly travel behavior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Turn activity data into clear impact insights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6095880" y="1638000"/>
            <a:ext cx="271980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QUALITY FOCUS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6095880" y="1866600"/>
            <a:ext cx="2666160" cy="10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Usability for everyday trip planning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Reliability for saved user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Security for accounts and sessions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Performance for smooth browsing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Maintainability through modular code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Responsive design for different devices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380880" y="92700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380880" y="380880"/>
            <a:ext cx="854892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Features and Task Distribution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" name="Table 0"/>
          <p:cNvGraphicFramePr/>
          <p:nvPr/>
        </p:nvGraphicFramePr>
        <p:xfrm>
          <a:off x="380880" y="1127160"/>
          <a:ext cx="8229240" cy="363384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2286000"/>
              </a:tblGrid>
              <a:tr h="519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Feature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0B89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Main Scope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0B89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Person In Charge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0B894"/>
                    </a:solidFill>
                  </a:tcPr>
                </a:tc>
              </a:tr>
              <a:tr h="519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General/Profile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Authentication, sessions, profile updates, and account control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Heng Yi Kang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Eco Directory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Eco-place directory, search filters, detail pages, and favourites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Yong Yung Kang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Green Itinerary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Trip CRUD, itinerary items, smart recommendations, and weather context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Wong Wei Li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Carbon Footprint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Emission estimates, carbon history, insight summaries, and offsets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Nurul Farzana Binti Anuar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Community Impact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Eco reviews, helpful votes, badges, and community challenges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Aqil Amani Bin Misni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9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Analytics/Reports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Impact dashboard, sustainability goals, report generation, and export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Nur Alisya Qistina Binti Mohd Hazli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380880" y="92700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380880" y="380880"/>
            <a:ext cx="854892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Backend Architecture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380880" y="112716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BACKEND STACK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380880" y="1355760"/>
            <a:ext cx="4063320" cy="10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Node.js runtime for the backend API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Express.js for routing and middleware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TypeScript for typed server-side code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PostgreSQL for persistent application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pg package for direct database queries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Vitest for backend test coverage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4"/>
          <p:cNvSpPr/>
          <p:nvPr/>
        </p:nvSpPr>
        <p:spPr>
          <a:xfrm>
            <a:off x="380880" y="252360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MAIN FILES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380880" y="275220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99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backend/src/index.ts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 - loads config and starts the server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380880" y="295524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99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backend/src/app.ts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 - configures middleware, routes, and errors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380880" y="330228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199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createApp()</a:t>
            </a: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 - creates the app without opening a 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4699080" y="112716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REQUEST FLOW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4699080" y="1355760"/>
            <a:ext cx="4063320" cy="10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Browser sends an HTTP request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Middleware parses JSON, cookies, and CORS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Route handler receives validated input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Business logic runs on the server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Data comes from PostgreSQL or external APIs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Frontend receives a structured JSON response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380880" y="92700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380880" y="380880"/>
            <a:ext cx="854892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Authentication and Security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380880" y="112716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AUTHENTICATION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380880" y="1355760"/>
            <a:ext cx="4063320" cy="8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Signup and login create user sessions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Passwords are stored as bcrypt hashes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JWT is stored in an HTTP-only cookie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Cookie name: terratrace_session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Protected routes must pass requireAuth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380880" y="234576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ACCOUNT APIS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380880" y="2574360"/>
            <a:ext cx="4063320" cy="8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Current-user endpoint returns verified account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Profile update changes saved user details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Password change verifies and replaces credentials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Logout clears the active session cookie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Account deletion removes the authenticated account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4699080" y="112716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ROUTE PROTECTION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4699080" y="1355760"/>
            <a:ext cx="4063320" cy="8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Token is verified before route logic runs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Verified user is attached to req.user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Queries are scoped by req.user.id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Missing or invalid sessions return 401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380880" y="92700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380880" y="380880"/>
            <a:ext cx="854892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Database Scripting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380880" y="112716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DATABASE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380880" y="1355760"/>
            <a:ext cx="4063320" cy="5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PostgreSQL stores the main application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Schema file: db/init/001_schema.sql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Covers users, trips, places, favourites, carbon, community, and analytics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380880" y="199044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SQL PATTERN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380880" y="2219040"/>
            <a:ext cx="4063320" cy="8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Routes use direct SQL queries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Parameterized inputs reduce SQL injection risk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No ORM, so query behavior stays explicit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Route logic clearly maps requests to SQL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SQL rows are mapped into frontend-friendly JSON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4699080" y="112716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DATA INTEGRITY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7"/>
          <p:cNvSpPr/>
          <p:nvPr/>
        </p:nvSpPr>
        <p:spPr>
          <a:xfrm>
            <a:off x="4699080" y="1355760"/>
            <a:ext cx="4063320" cy="8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Foreign keys connect related records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Cascade deletes clean up owned child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Unique constraints prevent duplicate records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Check constraints enforce valid values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Indexes speed up common lookups and filters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8"/>
          <p:cNvSpPr/>
          <p:nvPr/>
        </p:nvSpPr>
        <p:spPr>
          <a:xfrm>
            <a:off x="4699080" y="234576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TRANSACTIONS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9"/>
          <p:cNvSpPr/>
          <p:nvPr/>
        </p:nvSpPr>
        <p:spPr>
          <a:xfrm>
            <a:off x="4699080" y="2574360"/>
            <a:ext cx="4063320" cy="5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Transactions save related records together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Example: parent trip plus itinerary items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Rollback prevents incomplete saved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380880" y="92700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380880" y="380880"/>
            <a:ext cx="854892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Server-Side Feature APIs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380880" y="112716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CORE APIS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380880" y="1355760"/>
            <a:ext cx="4063320" cy="12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Auth and profile manage user identity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Eco-directory lists sustainable places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Favourites save user-selected places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Trips and todos manage itinerary planning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Carbon calculator estimates travel emissions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Community features support reviews and challenges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Analytics and reports summarize sustainability progress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380880" y="270108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BACKEND LOGIC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380880" y="2929680"/>
            <a:ext cx="4063320" cy="10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Validate body, query, and route parameters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Check ownership before reading or changing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Run feature-specific business rules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Query PostgreSQL with parameterized SQL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Return clear success and error status codes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Send structured JSON for the frontend UI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4699080" y="112716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EXAMPLES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4699080" y="1355760"/>
            <a:ext cx="4063320" cy="8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Carbon calculated by transport and activity type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Trip CRUD saves itinerary items together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Location APIs provide filters, details, and suggestions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Community APIs handle reviews, votes, badges, and rankings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Analytics APIs calculate goal progress and summaries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380880" y="92700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380880" y="380880"/>
            <a:ext cx="854892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External APIs and Recommendations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380880" y="112716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SMART RECOMMENDATION </a:t>
            </a: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FLOW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380880" y="1355760"/>
            <a:ext cx="4063320" cy="12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Validate city and destination input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Validate travel dates and duration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Check budget against estimated costs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Match recommendations to user interests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Add weather context for travel dates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Score each candidate before selection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Return ranked recommendations to the frontend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380880" y="270108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SCORING FACTORS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380880" y="2929680"/>
            <a:ext cx="4063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Eco evidence from candidate text and metadata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Interest match with selected travel preferences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Weather fit for the trip period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Budget fit against the requested budget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4699080" y="112716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EXTERNAL SERVICES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4699080" y="1355760"/>
            <a:ext cx="4063320" cy="13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Gemini for generated recommendation plans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DuckDuckGo search for candidate discovery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Open-Meteo for geocoding and weather forecasts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OpenRouteService for route planning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Nominatim for geocoding support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Foursquare for place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Unsplash for location images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OpenStreetMap/Overpass for map and place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4699080" y="287892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RELIABILITY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9"/>
          <p:cNvSpPr/>
          <p:nvPr/>
        </p:nvSpPr>
        <p:spPr>
          <a:xfrm>
            <a:off x="4699080" y="3107520"/>
            <a:ext cx="4063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API keys stay on the server side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Provider data is normalized before use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AI output is validated before returning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Fallback recommendations keep the feature usable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380880" y="92700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380880" y="380880"/>
            <a:ext cx="854892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Testing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380880" y="1127160"/>
            <a:ext cx="417708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UNIT TESTS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380880" y="1333440"/>
            <a:ext cx="4095000" cy="10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tIns="0" rIns="0" bIns="0" anchor="t">
            <a:noAutofit/>
          </a:bodyPr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Auth routes and session behavior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Profile hooks and account updates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Directory search, filters, and cards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Trip payload conversion and CRUD behavior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Carbon calculation utilities and emission logic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Community hooks and helpful vote behavior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Analytics impact calculations and summaries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380880" y="2489040"/>
            <a:ext cx="417708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99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FUNCTIONAL TESTS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380880" y="2695320"/>
            <a:ext cx="4095000" cy="9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tIns="0" rIns="0" bIns="0" anchor="t">
            <a:noAutofit/>
          </a:bodyPr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Register, login, logout, and validation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Profile display, update, and password change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Directory search, details, and favourites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Trip creation, editing, deletion, and itinerary items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Smart recommendations and weather forecast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Carbon calculator, insights, and analytics reports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4667400" y="1127160"/>
            <a:ext cx="417708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API TESTS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4667400" y="1333440"/>
            <a:ext cx="4095000" cy="13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tIns="0" rIns="0" bIns="0" anchor="t">
            <a:noAutofit/>
          </a:bodyPr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Signup and duplicate signup responses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Login and invalid login responses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Current-user and profile API responses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Favourites API ownership checks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Carbon API calculation responses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Analytics API summaries and goals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Weather API forecast responses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Recommendation API fallback behavior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Community API reviews and votes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4667400" y="2793960"/>
            <a:ext cx="4177080" cy="1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spcAft>
                <a:spcPts val="499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DATABASE TESTS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4667400" y="3000240"/>
            <a:ext cx="409500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tIns="0" rIns="0" bIns="0" anchor="t">
            <a:noAutofit/>
          </a:bodyPr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CRUD behavior for persisted records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Duplicate prevention through database rules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Validation rules and schema constraints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Relationship checks between linked tables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360" indent="-63360" defTabSz="914400">
              <a:lnSpc>
                <a:spcPts val="1100"/>
              </a:lnSpc>
              <a:spcAft>
                <a:spcPts val="99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Protected routes block guests and invalid sessions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380880" y="4299120"/>
            <a:ext cx="8381160" cy="462600"/>
          </a:xfrm>
          <a:prstGeom prst="roundRect">
            <a:avLst>
              <a:gd name="adj" fmla="val 10961"/>
            </a:avLst>
          </a:prstGeom>
          <a:solidFill>
            <a:srgbClr val="00B8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426600" y="4425840"/>
            <a:ext cx="829008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Key result: 100 automated unit tests passed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380880" y="92700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380880" y="380880"/>
            <a:ext cx="854892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Key Code Contributions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380880" y="112716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EXPRESS APP SETUP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380880" y="1355760"/>
            <a:ext cx="4063320" cy="5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backend/src/app.ts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CORS, JSON body parsing, and cookie parsing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API route mounting, health check, and error handling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380880" y="199044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AUTHENTICATION MIDDLEWARE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380880" y="2219040"/>
            <a:ext cx="4063320" cy="5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backend/src/middleware/auth.ts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JWT verification and authenticated req.user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401 response for missing or invalid sessions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380880" y="285372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DATABASE HELPER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380880" y="3082320"/>
            <a:ext cx="4063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backend/src/utils/db.ts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Shared PostgreSQL connection pool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Reusable query() helper for routes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Parameterized SQL for safer database access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4699080" y="112716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TRIPS CRUD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4699080" y="1355760"/>
            <a:ext cx="4063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backend/src/routes/trips.ts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Protected trip routes with input validation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User ownership checks and database transactions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Nested trip and itinerary JSON output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4699080" y="216828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SMART RECOMMENDATIONS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1"/>
          <p:cNvSpPr/>
          <p:nvPr/>
        </p:nvSpPr>
        <p:spPr>
          <a:xfrm>
            <a:off x="4699080" y="2396880"/>
            <a:ext cx="40633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backend/src/routes/smart-recommendation.ts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Weather context and sustainable search candidates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Candidate scoring plus validated Gemini output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Fallback logic and short-lived response cache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380880" y="927000"/>
            <a:ext cx="8381880" cy="360"/>
          </a:xfrm>
          <a:prstGeom prst="line">
            <a:avLst/>
          </a:prstGeom>
          <a:ln w="19050">
            <a:solidFill>
              <a:srgbClr val="00B8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380880" y="380880"/>
            <a:ext cx="854892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Demo and Conclusion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380880" y="112716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DEMO FLOW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380880" y="1355760"/>
            <a:ext cx="4063320" cy="12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Log in to create an authenticated session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Search eco-friendly places in the directory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Save a place as a user favourite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Create a trip with itinerary details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Generate a smart travel recommendation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Calculate carbon impact for travel choices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View analytics and sustainability progress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380880" y="270108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4699080" y="1127160"/>
            <a:ext cx="4144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B894"/>
                </a:solidFill>
                <a:effectLst/>
                <a:uFillTx/>
                <a:latin typeface="Arial"/>
                <a:ea typeface="Arial"/>
              </a:rPr>
              <a:t>CONCLUSION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4699080" y="1355760"/>
            <a:ext cx="4063320" cy="50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noAutofit/>
          </a:bodyPr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TerraTrace is a full-stack platform for sustainable travel planning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6320" indent="-76320" defTabSz="914400">
              <a:lnSpc>
                <a:spcPts val="1199"/>
              </a:lnSpc>
              <a:spcAft>
                <a:spcPts val="201"/>
              </a:spcAft>
              <a:buClr>
                <a:srgbClr val="2D3436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2D3436"/>
                </a:solidFill>
                <a:effectLst/>
                <a:uFillTx/>
                <a:latin typeface="Arial"/>
                <a:ea typeface="Arial"/>
              </a:rPr>
              <a:t>The backend powers authentication, database access, feature APIs, integrations, and protected workflows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Application>LibreOffice/26.2.4.2$Linux_X86_64 LibreOffice_project/620$Build-2</Application>
  <AppVersion>15.0000</AppVersion>
  <Words>0</Words>
  <Paragraphs>0</Paragraphs>
  <Company>OCC3 G4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2026-06-12T10:06:12Z</dcterms:created>
  <dc:creator>TerraTrace Team</dc:creator>
  <dc:description/>
  <dc:language>en-US</dc:language>
  <cp:lastModifiedBy/>
  <dcterms:modified xsi:type="dcterms:W3CDTF">2026-06-12T21:50:08Z</dcterms:modified>
  <cp:revision>4</cp:revision>
  <dc:subject>WIF2003 Web Programming</dc:subject>
  <dc:title>TerraTrace - Eco-Friendly Travel Planner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